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9"/>
  </p:notesMasterIdLst>
  <p:sldIdLst>
    <p:sldId id="256" r:id="rId2"/>
    <p:sldId id="267" r:id="rId3"/>
    <p:sldId id="257" r:id="rId4"/>
    <p:sldId id="262" r:id="rId5"/>
    <p:sldId id="269" r:id="rId6"/>
    <p:sldId id="265" r:id="rId7"/>
    <p:sldId id="261" r:id="rId8"/>
  </p:sldIdLst>
  <p:sldSz cx="18288000" cy="10287000"/>
  <p:notesSz cx="6858000" cy="9144000"/>
  <p:embeddedFontLst>
    <p:embeddedFont>
      <p:font typeface="Montserrat" panose="00000500000000000000" pitchFamily="2" charset="0"/>
      <p:regular r:id="rId10"/>
      <p:bold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C3CF1C-728E-47CA-AD2C-F5AA87709EF2}" v="33" dt="2026-04-08T13:58:45.0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518" autoAdjust="0"/>
    <p:restoredTop sz="94622" autoAdjust="0"/>
  </p:normalViewPr>
  <p:slideViewPr>
    <p:cSldViewPr>
      <p:cViewPr varScale="1">
        <p:scale>
          <a:sx n="43" d="100"/>
          <a:sy n="43" d="100"/>
        </p:scale>
        <p:origin x="1182" y="3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4874C5-4E4A-4947-A258-28048C50E816}" type="datetimeFigureOut">
              <a:rPr lang="pt-BR" smtClean="0"/>
              <a:t>09/04/2026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4B64CE-C153-4065-9AA0-CD51D78096D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905544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73F69-763F-1A83-198E-F9A620A2E4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649A5D5C-A16E-0E00-6F14-4EF53851617D}"/>
              </a:ext>
            </a:extLst>
          </p:cNvPr>
          <p:cNvSpPr txBox="1"/>
          <p:nvPr/>
        </p:nvSpPr>
        <p:spPr>
          <a:xfrm>
            <a:off x="4347767" y="985526"/>
            <a:ext cx="9592466" cy="6924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375"/>
              </a:lnSpc>
            </a:pPr>
            <a:r>
              <a:rPr lang="en-US" sz="4886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Visão</a:t>
            </a:r>
            <a:r>
              <a:rPr lang="en-US" sz="4886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Geral da </a:t>
            </a:r>
            <a:r>
              <a:rPr lang="en-US" sz="4886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Área</a:t>
            </a:r>
            <a:r>
              <a:rPr lang="en-US" sz="4886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CD14D4DB-BA80-0EFE-511F-8FB3CF599605}"/>
              </a:ext>
            </a:extLst>
          </p:cNvPr>
          <p:cNvGrpSpPr/>
          <p:nvPr/>
        </p:nvGrpSpPr>
        <p:grpSpPr>
          <a:xfrm>
            <a:off x="-3191776" y="6864572"/>
            <a:ext cx="4586166" cy="4586166"/>
            <a:chOff x="0" y="0"/>
            <a:chExt cx="812800" cy="81280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0AA7106B-703B-C64D-5FA2-91E57211427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5DE0E6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lin ang="0"/>
            </a:gradFill>
            <a:ln w="28575" cap="sq">
              <a:gradFill>
                <a:gsLst>
                  <a:gs pos="0">
                    <a:srgbClr val="5DE0E6">
                      <a:alpha val="100000"/>
                    </a:srgbClr>
                  </a:gs>
                  <a:gs pos="100000">
                    <a:srgbClr val="004AAD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30731FB4-3E7C-54A1-DFC4-163E5711FFBB}"/>
                </a:ext>
              </a:extLst>
            </p:cNvPr>
            <p:cNvSpPr txBox="1"/>
            <p:nvPr/>
          </p:nvSpPr>
          <p:spPr>
            <a:xfrm>
              <a:off x="76200" y="123825"/>
              <a:ext cx="660400" cy="612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00"/>
                </a:lnSpc>
              </a:pPr>
              <a:endParaRPr/>
            </a:p>
          </p:txBody>
        </p: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66AB2122-E11F-9F6F-93F2-DF95AA9479DB}"/>
              </a:ext>
            </a:extLst>
          </p:cNvPr>
          <p:cNvGrpSpPr/>
          <p:nvPr/>
        </p:nvGrpSpPr>
        <p:grpSpPr>
          <a:xfrm>
            <a:off x="795777" y="-1158603"/>
            <a:ext cx="3487860" cy="3487860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063D4D55-4F13-EDBF-93A9-9B2EDDEFE64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5DE0E6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lin ang="0"/>
            </a:gradFill>
            <a:ln w="28575" cap="sq">
              <a:gradFill>
                <a:gsLst>
                  <a:gs pos="0">
                    <a:srgbClr val="5DE0E6">
                      <a:alpha val="100000"/>
                    </a:srgbClr>
                  </a:gs>
                  <a:gs pos="100000">
                    <a:srgbClr val="004AAD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AE27696F-9C62-A632-6B86-61E13C85B89D}"/>
                </a:ext>
              </a:extLst>
            </p:cNvPr>
            <p:cNvSpPr txBox="1"/>
            <p:nvPr/>
          </p:nvSpPr>
          <p:spPr>
            <a:xfrm>
              <a:off x="76200" y="123825"/>
              <a:ext cx="660400" cy="612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00"/>
                </a:lnSpc>
              </a:pPr>
              <a:endParaRPr/>
            </a:p>
          </p:txBody>
        </p:sp>
      </p:grpSp>
      <p:sp>
        <p:nvSpPr>
          <p:cNvPr id="10" name="Freeform 10">
            <a:extLst>
              <a:ext uri="{FF2B5EF4-FFF2-40B4-BE49-F238E27FC236}">
                <a16:creationId xmlns:a16="http://schemas.microsoft.com/office/drawing/2014/main" id="{E7FB7E84-71E2-F8CD-467D-C38289E52DB3}"/>
              </a:ext>
            </a:extLst>
          </p:cNvPr>
          <p:cNvSpPr/>
          <p:nvPr/>
        </p:nvSpPr>
        <p:spPr>
          <a:xfrm>
            <a:off x="-1508517" y="2170102"/>
            <a:ext cx="4232192" cy="4291196"/>
          </a:xfrm>
          <a:custGeom>
            <a:avLst/>
            <a:gdLst/>
            <a:ahLst/>
            <a:cxnLst/>
            <a:rect l="l" t="t" r="r" b="b"/>
            <a:pathLst>
              <a:path w="4232192" h="4291196">
                <a:moveTo>
                  <a:pt x="0" y="0"/>
                </a:moveTo>
                <a:lnTo>
                  <a:pt x="4232192" y="0"/>
                </a:lnTo>
                <a:lnTo>
                  <a:pt x="4232192" y="4291196"/>
                </a:lnTo>
                <a:lnTo>
                  <a:pt x="0" y="42911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09B53EA9-650B-4FAF-AEB1-8004CDAD50D3}"/>
              </a:ext>
            </a:extLst>
          </p:cNvPr>
          <p:cNvSpPr/>
          <p:nvPr/>
        </p:nvSpPr>
        <p:spPr>
          <a:xfrm>
            <a:off x="3200400" y="2359923"/>
            <a:ext cx="14847403" cy="2446754"/>
          </a:xfrm>
          <a:custGeom>
            <a:avLst/>
            <a:gdLst/>
            <a:ahLst/>
            <a:cxnLst/>
            <a:rect l="l" t="t" r="r" b="b"/>
            <a:pathLst>
              <a:path w="3355848" h="2937256">
                <a:moveTo>
                  <a:pt x="0" y="134239"/>
                </a:moveTo>
                <a:cubicBezTo>
                  <a:pt x="0" y="60071"/>
                  <a:pt x="60198" y="0"/>
                  <a:pt x="134493" y="0"/>
                </a:cubicBezTo>
                <a:lnTo>
                  <a:pt x="3221355" y="0"/>
                </a:lnTo>
                <a:lnTo>
                  <a:pt x="3221355" y="28575"/>
                </a:lnTo>
                <a:lnTo>
                  <a:pt x="3221355" y="0"/>
                </a:lnTo>
                <a:cubicBezTo>
                  <a:pt x="3295523" y="0"/>
                  <a:pt x="3355848" y="60071"/>
                  <a:pt x="3355848" y="134239"/>
                </a:cubicBezTo>
                <a:lnTo>
                  <a:pt x="3327273" y="134239"/>
                </a:lnTo>
                <a:lnTo>
                  <a:pt x="3355848" y="134239"/>
                </a:lnTo>
                <a:lnTo>
                  <a:pt x="3355848" y="2803017"/>
                </a:lnTo>
                <a:lnTo>
                  <a:pt x="3327273" y="2803017"/>
                </a:lnTo>
                <a:lnTo>
                  <a:pt x="3355848" y="2803017"/>
                </a:lnTo>
                <a:cubicBezTo>
                  <a:pt x="3355848" y="2877185"/>
                  <a:pt x="3295650" y="2937256"/>
                  <a:pt x="3221355" y="2937256"/>
                </a:cubicBezTo>
                <a:lnTo>
                  <a:pt x="3221355" y="2908681"/>
                </a:lnTo>
                <a:lnTo>
                  <a:pt x="3221355" y="2937256"/>
                </a:lnTo>
                <a:lnTo>
                  <a:pt x="134493" y="2937256"/>
                </a:lnTo>
                <a:lnTo>
                  <a:pt x="134493" y="2908681"/>
                </a:lnTo>
                <a:lnTo>
                  <a:pt x="134493" y="2937256"/>
                </a:lnTo>
                <a:cubicBezTo>
                  <a:pt x="60198" y="2937129"/>
                  <a:pt x="0" y="2877185"/>
                  <a:pt x="0" y="2803017"/>
                </a:cubicBezTo>
                <a:lnTo>
                  <a:pt x="0" y="134239"/>
                </a:lnTo>
                <a:lnTo>
                  <a:pt x="28575" y="134239"/>
                </a:lnTo>
                <a:lnTo>
                  <a:pt x="0" y="134239"/>
                </a:lnTo>
                <a:moveTo>
                  <a:pt x="57150" y="134239"/>
                </a:moveTo>
                <a:lnTo>
                  <a:pt x="57150" y="2803017"/>
                </a:lnTo>
                <a:lnTo>
                  <a:pt x="28575" y="2803017"/>
                </a:lnTo>
                <a:lnTo>
                  <a:pt x="57150" y="2803017"/>
                </a:lnTo>
                <a:cubicBezTo>
                  <a:pt x="57150" y="2845435"/>
                  <a:pt x="91694" y="2880106"/>
                  <a:pt x="134493" y="2880106"/>
                </a:cubicBezTo>
                <a:lnTo>
                  <a:pt x="3221355" y="2880106"/>
                </a:lnTo>
                <a:cubicBezTo>
                  <a:pt x="3264154" y="2880106"/>
                  <a:pt x="3298698" y="2845562"/>
                  <a:pt x="3298698" y="2803017"/>
                </a:cubicBezTo>
                <a:lnTo>
                  <a:pt x="3298698" y="134239"/>
                </a:lnTo>
                <a:cubicBezTo>
                  <a:pt x="3298698" y="91821"/>
                  <a:pt x="3264154" y="57150"/>
                  <a:pt x="3221355" y="57150"/>
                </a:cubicBezTo>
                <a:lnTo>
                  <a:pt x="134493" y="57150"/>
                </a:lnTo>
                <a:lnTo>
                  <a:pt x="134493" y="28575"/>
                </a:lnTo>
                <a:lnTo>
                  <a:pt x="134493" y="57150"/>
                </a:lnTo>
                <a:cubicBezTo>
                  <a:pt x="91694" y="57150"/>
                  <a:pt x="57150" y="91694"/>
                  <a:pt x="57150" y="134239"/>
                </a:cubicBezTo>
                <a:close/>
              </a:path>
            </a:pathLst>
          </a:custGeom>
          <a:gradFill>
            <a:gsLst>
              <a:gs pos="95250">
                <a:srgbClr val="000102"/>
              </a:gs>
              <a:gs pos="94500">
                <a:srgbClr val="000104"/>
              </a:gs>
              <a:gs pos="93000">
                <a:srgbClr val="000207"/>
              </a:gs>
              <a:gs pos="90000">
                <a:srgbClr val="00040D"/>
              </a:gs>
              <a:gs pos="84000">
                <a:srgbClr val="00081A"/>
              </a:gs>
              <a:gs pos="72000">
                <a:srgbClr val="001033"/>
              </a:gs>
              <a:gs pos="48000">
                <a:srgbClr val="002066"/>
              </a:gs>
              <a:gs pos="96000">
                <a:schemeClr val="tx1"/>
              </a:gs>
              <a:gs pos="0">
                <a:srgbClr val="003FCC"/>
              </a:gs>
            </a:gsLst>
            <a:lin ang="13500000" scaled="1"/>
          </a:gradFill>
          <a:ln>
            <a:solidFill>
              <a:srgbClr val="002060"/>
            </a:solidFill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TextBox 3">
            <a:extLst>
              <a:ext uri="{FF2B5EF4-FFF2-40B4-BE49-F238E27FC236}">
                <a16:creationId xmlns:a16="http://schemas.microsoft.com/office/drawing/2014/main" id="{068AC6B3-9815-A18B-8220-E5FDA2B1E664}"/>
              </a:ext>
            </a:extLst>
          </p:cNvPr>
          <p:cNvSpPr txBox="1"/>
          <p:nvPr/>
        </p:nvSpPr>
        <p:spPr>
          <a:xfrm>
            <a:off x="3059594" y="5127702"/>
            <a:ext cx="15776313" cy="33378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2000" b="1" dirty="0">
                <a:solidFill>
                  <a:srgbClr val="000000">
                    <a:alpha val="69804"/>
                  </a:srgbClr>
                </a:solidFill>
                <a:latin typeface="Montserrat"/>
                <a:ea typeface="Montserrat"/>
                <a:cs typeface="Montserrat"/>
                <a:sym typeface="Montserrat"/>
              </a:rPr>
              <a:t>O </a:t>
            </a:r>
            <a:r>
              <a:rPr lang="en-US" sz="2000" b="1" dirty="0" err="1">
                <a:solidFill>
                  <a:srgbClr val="000000">
                    <a:alpha val="69804"/>
                  </a:srgbClr>
                </a:solidFill>
                <a:latin typeface="Montserrat"/>
                <a:ea typeface="Montserrat"/>
                <a:cs typeface="Montserrat"/>
                <a:sym typeface="Montserrat"/>
              </a:rPr>
              <a:t>que</a:t>
            </a:r>
            <a:r>
              <a:rPr lang="en-US" sz="2000" b="1" dirty="0">
                <a:solidFill>
                  <a:srgbClr val="000000">
                    <a:alpha val="69804"/>
                  </a:srgbClr>
                </a:solidFill>
                <a:latin typeface="Montserrat"/>
                <a:ea typeface="Montserrat"/>
                <a:cs typeface="Montserrat"/>
                <a:sym typeface="Montserrat"/>
              </a:rPr>
              <a:t> a </a:t>
            </a:r>
            <a:r>
              <a:rPr lang="en-US" sz="2000" b="1" dirty="0" err="1">
                <a:solidFill>
                  <a:srgbClr val="000000">
                    <a:alpha val="69804"/>
                  </a:srgbClr>
                </a:solidFill>
                <a:latin typeface="Montserrat"/>
                <a:ea typeface="Montserrat"/>
                <a:cs typeface="Montserrat"/>
                <a:sym typeface="Montserrat"/>
              </a:rPr>
              <a:t>área</a:t>
            </a:r>
            <a:r>
              <a:rPr lang="en-US" sz="2000" b="1" dirty="0">
                <a:solidFill>
                  <a:srgbClr val="000000">
                    <a:alpha val="69804"/>
                  </a:srgbClr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000" b="1" dirty="0" err="1">
                <a:solidFill>
                  <a:srgbClr val="000000">
                    <a:alpha val="69804"/>
                  </a:srgbClr>
                </a:solidFill>
                <a:latin typeface="Montserrat"/>
                <a:ea typeface="Montserrat"/>
                <a:cs typeface="Montserrat"/>
                <a:sym typeface="Montserrat"/>
              </a:rPr>
              <a:t>faz</a:t>
            </a:r>
            <a:r>
              <a:rPr lang="en-US" sz="2000" b="1" dirty="0">
                <a:solidFill>
                  <a:srgbClr val="000000">
                    <a:alpha val="69804"/>
                  </a:srgbClr>
                </a:solidFill>
                <a:latin typeface="Montserrat"/>
                <a:ea typeface="Montserrat"/>
                <a:cs typeface="Montserrat"/>
                <a:sym typeface="Montserrat"/>
              </a:rPr>
              <a:t>? </a:t>
            </a:r>
          </a:p>
          <a:p>
            <a:pPr algn="l"/>
            <a:endParaRPr lang="en-US" sz="2000" b="1" dirty="0">
              <a:solidFill>
                <a:srgbClr val="000000">
                  <a:alpha val="69804"/>
                </a:srgbClr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ct val="150000"/>
              </a:lnSpc>
            </a:pPr>
            <a:endParaRPr lang="en-US" sz="2000" b="1" dirty="0">
              <a:solidFill>
                <a:srgbClr val="000000">
                  <a:alpha val="69804"/>
                </a:srgbClr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ct val="150000"/>
              </a:lnSpc>
            </a:pPr>
            <a:endParaRPr lang="en-US" sz="2000" b="1" dirty="0">
              <a:solidFill>
                <a:srgbClr val="000000">
                  <a:alpha val="69804"/>
                </a:srgbClr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ct val="150000"/>
              </a:lnSpc>
            </a:pPr>
            <a:endParaRPr lang="en-US" sz="2000" b="1" dirty="0">
              <a:solidFill>
                <a:srgbClr val="000000">
                  <a:alpha val="69804"/>
                </a:srgbClr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ct val="150000"/>
              </a:lnSpc>
            </a:pPr>
            <a:endParaRPr lang="en-US" sz="2000" b="1" dirty="0">
              <a:solidFill>
                <a:srgbClr val="000000">
                  <a:alpha val="69804"/>
                </a:srgbClr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ct val="150000"/>
              </a:lnSpc>
            </a:pPr>
            <a:r>
              <a:rPr lang="en-US" sz="2000" b="1" dirty="0">
                <a:solidFill>
                  <a:srgbClr val="000000">
                    <a:alpha val="69804"/>
                  </a:srgbClr>
                </a:solidFill>
                <a:latin typeface="Montserrat"/>
                <a:ea typeface="Montserrat"/>
                <a:cs typeface="Montserrat"/>
                <a:sym typeface="Montserrat"/>
              </a:rPr>
              <a:t>Qual o </a:t>
            </a:r>
            <a:r>
              <a:rPr lang="en-US" sz="2000" b="1" dirty="0" err="1">
                <a:solidFill>
                  <a:srgbClr val="000000">
                    <a:alpha val="69804"/>
                  </a:srgbClr>
                </a:solidFill>
                <a:latin typeface="Montserrat"/>
                <a:ea typeface="Montserrat"/>
                <a:cs typeface="Montserrat"/>
                <a:sym typeface="Montserrat"/>
              </a:rPr>
              <a:t>papel</a:t>
            </a:r>
            <a:r>
              <a:rPr lang="en-US" sz="2000" b="1" dirty="0">
                <a:solidFill>
                  <a:srgbClr val="000000">
                    <a:alpha val="69804"/>
                  </a:srgbClr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000" b="1" dirty="0" err="1">
                <a:solidFill>
                  <a:srgbClr val="000000">
                    <a:alpha val="69804"/>
                  </a:srgbClr>
                </a:solidFill>
                <a:latin typeface="Montserrat"/>
                <a:ea typeface="Montserrat"/>
                <a:cs typeface="Montserrat"/>
                <a:sym typeface="Montserrat"/>
              </a:rPr>
              <a:t>dentro</a:t>
            </a:r>
            <a:r>
              <a:rPr lang="en-US" sz="2000" b="1" dirty="0">
                <a:solidFill>
                  <a:srgbClr val="000000">
                    <a:alpha val="69804"/>
                  </a:srgbClr>
                </a:solidFill>
                <a:latin typeface="Montserrat"/>
                <a:ea typeface="Montserrat"/>
                <a:cs typeface="Montserrat"/>
                <a:sym typeface="Montserrat"/>
              </a:rPr>
              <a:t> da </a:t>
            </a:r>
            <a:r>
              <a:rPr lang="en-US" sz="2000" b="1" dirty="0" err="1">
                <a:solidFill>
                  <a:srgbClr val="000000">
                    <a:alpha val="69804"/>
                  </a:srgbClr>
                </a:solidFill>
                <a:latin typeface="Montserrat"/>
                <a:ea typeface="Montserrat"/>
                <a:cs typeface="Montserrat"/>
                <a:sym typeface="Montserrat"/>
              </a:rPr>
              <a:t>gestora</a:t>
            </a:r>
            <a:r>
              <a:rPr lang="en-US" sz="2000" b="1" dirty="0">
                <a:solidFill>
                  <a:srgbClr val="000000">
                    <a:alpha val="69804"/>
                  </a:srgbClr>
                </a:solidFill>
                <a:latin typeface="Montserrat"/>
                <a:ea typeface="Montserrat"/>
                <a:cs typeface="Montserrat"/>
                <a:sym typeface="Montserrat"/>
              </a:rPr>
              <a:t>? </a:t>
            </a:r>
            <a:endParaRPr lang="en-US" sz="2000" dirty="0">
              <a:solidFill>
                <a:srgbClr val="000000">
                  <a:alpha val="69804"/>
                </a:srgbClr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lnSpc>
                <a:spcPct val="150000"/>
              </a:lnSpc>
            </a:pPr>
            <a:endParaRPr lang="pt-BR" sz="2000" dirty="0"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31501962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734726" y="-9773"/>
            <a:ext cx="6348749" cy="10287000"/>
          </a:xfrm>
          <a:custGeom>
            <a:avLst/>
            <a:gdLst/>
            <a:ahLst/>
            <a:cxnLst/>
            <a:rect l="l" t="t" r="r" b="b"/>
            <a:pathLst>
              <a:path w="6348749" h="10287000">
                <a:moveTo>
                  <a:pt x="0" y="0"/>
                </a:moveTo>
                <a:lnTo>
                  <a:pt x="6348749" y="0"/>
                </a:lnTo>
                <a:lnTo>
                  <a:pt x="6348749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761" r="-10761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TextBox 3"/>
          <p:cNvSpPr txBox="1"/>
          <p:nvPr/>
        </p:nvSpPr>
        <p:spPr>
          <a:xfrm>
            <a:off x="1394501" y="1623604"/>
            <a:ext cx="9165506" cy="769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014"/>
              </a:lnSpc>
            </a:pPr>
            <a:r>
              <a:rPr lang="en-US" sz="5467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Como se </a:t>
            </a:r>
            <a:r>
              <a:rPr lang="en-US" sz="5467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conecta</a:t>
            </a:r>
            <a:r>
              <a:rPr lang="en-US" sz="5467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? </a:t>
            </a:r>
            <a:endParaRPr lang="en-US" sz="5467" dirty="0">
              <a:solidFill>
                <a:srgbClr val="003C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4" name="Group 4"/>
          <p:cNvGrpSpPr/>
          <p:nvPr/>
        </p:nvGrpSpPr>
        <p:grpSpPr>
          <a:xfrm rot="5400000">
            <a:off x="8057523" y="4941430"/>
            <a:ext cx="11025129" cy="384594"/>
            <a:chOff x="0" y="0"/>
            <a:chExt cx="2182929" cy="7614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82929" cy="76148"/>
            </a:xfrm>
            <a:custGeom>
              <a:avLst/>
              <a:gdLst/>
              <a:ahLst/>
              <a:cxnLst/>
              <a:rect l="l" t="t" r="r" b="b"/>
              <a:pathLst>
                <a:path w="2182929" h="76148">
                  <a:moveTo>
                    <a:pt x="0" y="0"/>
                  </a:moveTo>
                  <a:lnTo>
                    <a:pt x="2182929" y="0"/>
                  </a:lnTo>
                  <a:lnTo>
                    <a:pt x="2182929" y="76148"/>
                  </a:lnTo>
                  <a:lnTo>
                    <a:pt x="0" y="76148"/>
                  </a:lnTo>
                  <a:close/>
                </a:path>
              </a:pathLst>
            </a:custGeom>
            <a:gradFill rotWithShape="1">
              <a:gsLst>
                <a:gs pos="0">
                  <a:srgbClr val="5DE0E6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pt-BR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47625"/>
              <a:ext cx="2182929" cy="285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00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4069215" y="6266227"/>
            <a:ext cx="5449973" cy="544997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28575" cap="sq">
              <a:solidFill>
                <a:srgbClr val="003CFF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123825"/>
              <a:ext cx="660400" cy="612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00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-990600" y="-2171005"/>
            <a:ext cx="3807309" cy="3807309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3CFF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123825"/>
              <a:ext cx="660400" cy="612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00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2311CB-AFFA-5310-3C3A-94A36F5CA1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4CB0B3EE-1EB3-257F-572E-5A24494EAA22}"/>
              </a:ext>
            </a:extLst>
          </p:cNvPr>
          <p:cNvSpPr txBox="1"/>
          <p:nvPr/>
        </p:nvSpPr>
        <p:spPr>
          <a:xfrm>
            <a:off x="6266657" y="1510713"/>
            <a:ext cx="9592466" cy="6924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375"/>
              </a:lnSpc>
            </a:pPr>
            <a:r>
              <a:rPr lang="en-US" sz="4886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Principais</a:t>
            </a:r>
            <a:r>
              <a:rPr lang="en-US" sz="4886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4886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Responsabilidades</a:t>
            </a:r>
            <a:r>
              <a:rPr lang="en-US" sz="4886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6681B1EB-3E21-3F77-1393-915EBCCFF107}"/>
              </a:ext>
            </a:extLst>
          </p:cNvPr>
          <p:cNvGrpSpPr/>
          <p:nvPr/>
        </p:nvGrpSpPr>
        <p:grpSpPr>
          <a:xfrm>
            <a:off x="-2693692" y="6278724"/>
            <a:ext cx="4586166" cy="4586166"/>
            <a:chOff x="0" y="0"/>
            <a:chExt cx="812800" cy="81280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811E81F5-DEE9-F4A4-8C5F-97C6C61C0ED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5DE0E6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lin ang="0"/>
            </a:gradFill>
            <a:ln w="28575" cap="sq">
              <a:gradFill>
                <a:gsLst>
                  <a:gs pos="0">
                    <a:srgbClr val="5DE0E6">
                      <a:alpha val="100000"/>
                    </a:srgbClr>
                  </a:gs>
                  <a:gs pos="100000">
                    <a:srgbClr val="004AAD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6D110AC3-AF7D-BD58-D985-14753129CDEB}"/>
                </a:ext>
              </a:extLst>
            </p:cNvPr>
            <p:cNvSpPr txBox="1"/>
            <p:nvPr/>
          </p:nvSpPr>
          <p:spPr>
            <a:xfrm>
              <a:off x="76200" y="123825"/>
              <a:ext cx="660400" cy="612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00"/>
                </a:lnSpc>
              </a:pPr>
              <a:endParaRPr/>
            </a:p>
          </p:txBody>
        </p: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364BF7CD-5C47-74C7-71E5-D7CB8A52C68A}"/>
              </a:ext>
            </a:extLst>
          </p:cNvPr>
          <p:cNvGrpSpPr/>
          <p:nvPr/>
        </p:nvGrpSpPr>
        <p:grpSpPr>
          <a:xfrm>
            <a:off x="3280503" y="-2034297"/>
            <a:ext cx="3487860" cy="3487860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1A2F9605-B651-D3AA-A07D-10162EAD7D2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5DE0E6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lin ang="0"/>
            </a:gradFill>
            <a:ln w="28575" cap="sq">
              <a:gradFill>
                <a:gsLst>
                  <a:gs pos="0">
                    <a:srgbClr val="5DE0E6">
                      <a:alpha val="100000"/>
                    </a:srgbClr>
                  </a:gs>
                  <a:gs pos="100000">
                    <a:srgbClr val="004AAD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7FF20D62-7DD2-29F4-4260-A39464B3A5B5}"/>
                </a:ext>
              </a:extLst>
            </p:cNvPr>
            <p:cNvSpPr txBox="1"/>
            <p:nvPr/>
          </p:nvSpPr>
          <p:spPr>
            <a:xfrm>
              <a:off x="76200" y="123825"/>
              <a:ext cx="660400" cy="612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00"/>
                </a:lnSpc>
              </a:pPr>
              <a:endParaRPr/>
            </a:p>
          </p:txBody>
        </p:sp>
      </p:grpSp>
      <p:sp>
        <p:nvSpPr>
          <p:cNvPr id="10" name="Freeform 10">
            <a:extLst>
              <a:ext uri="{FF2B5EF4-FFF2-40B4-BE49-F238E27FC236}">
                <a16:creationId xmlns:a16="http://schemas.microsoft.com/office/drawing/2014/main" id="{E156C11B-1520-5D16-21DC-19DEA774CC56}"/>
              </a:ext>
            </a:extLst>
          </p:cNvPr>
          <p:cNvSpPr/>
          <p:nvPr/>
        </p:nvSpPr>
        <p:spPr>
          <a:xfrm>
            <a:off x="556991" y="1987528"/>
            <a:ext cx="4232192" cy="4291196"/>
          </a:xfrm>
          <a:custGeom>
            <a:avLst/>
            <a:gdLst/>
            <a:ahLst/>
            <a:cxnLst/>
            <a:rect l="l" t="t" r="r" b="b"/>
            <a:pathLst>
              <a:path w="4232192" h="4291196">
                <a:moveTo>
                  <a:pt x="0" y="0"/>
                </a:moveTo>
                <a:lnTo>
                  <a:pt x="4232192" y="0"/>
                </a:lnTo>
                <a:lnTo>
                  <a:pt x="4232192" y="4291196"/>
                </a:lnTo>
                <a:lnTo>
                  <a:pt x="0" y="42911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728216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60C61-EF5A-ED18-B821-C68BF9657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7853911-AB78-A99A-893A-80FA62D442BF}"/>
              </a:ext>
            </a:extLst>
          </p:cNvPr>
          <p:cNvSpPr/>
          <p:nvPr/>
        </p:nvSpPr>
        <p:spPr>
          <a:xfrm>
            <a:off x="13149338" y="-9774"/>
            <a:ext cx="6348749" cy="10287000"/>
          </a:xfrm>
          <a:custGeom>
            <a:avLst/>
            <a:gdLst/>
            <a:ahLst/>
            <a:cxnLst/>
            <a:rect l="l" t="t" r="r" b="b"/>
            <a:pathLst>
              <a:path w="6348749" h="10287000">
                <a:moveTo>
                  <a:pt x="0" y="0"/>
                </a:moveTo>
                <a:lnTo>
                  <a:pt x="6348749" y="0"/>
                </a:lnTo>
                <a:lnTo>
                  <a:pt x="6348749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761" r="-10761"/>
            </a:stretch>
          </a:blipFill>
        </p:spPr>
        <p:txBody>
          <a:bodyPr/>
          <a:lstStyle/>
          <a:p>
            <a:endParaRPr lang="pt-BR" dirty="0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1976536D-882E-31E7-BA1F-B8E7F9A8434B}"/>
              </a:ext>
            </a:extLst>
          </p:cNvPr>
          <p:cNvSpPr txBox="1"/>
          <p:nvPr/>
        </p:nvSpPr>
        <p:spPr>
          <a:xfrm>
            <a:off x="1414435" y="1363180"/>
            <a:ext cx="9165506" cy="769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014"/>
              </a:lnSpc>
            </a:pPr>
            <a:r>
              <a:rPr lang="en-US" sz="5467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Como a </a:t>
            </a:r>
            <a:r>
              <a:rPr lang="en-US" sz="5467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área</a:t>
            </a:r>
            <a:r>
              <a:rPr lang="en-US" sz="5467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5467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gera</a:t>
            </a:r>
            <a:r>
              <a:rPr lang="en-US" sz="5467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valor? </a:t>
            </a:r>
            <a:endParaRPr lang="en-US" sz="5467" dirty="0">
              <a:solidFill>
                <a:srgbClr val="003C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55366361-51D0-687E-2D15-012C2C8F1F2A}"/>
              </a:ext>
            </a:extLst>
          </p:cNvPr>
          <p:cNvGrpSpPr/>
          <p:nvPr/>
        </p:nvGrpSpPr>
        <p:grpSpPr>
          <a:xfrm rot="5400000">
            <a:off x="7517759" y="4941429"/>
            <a:ext cx="11025129" cy="384594"/>
            <a:chOff x="0" y="0"/>
            <a:chExt cx="2182929" cy="76148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2F40BE25-75F3-C1DD-2E49-52C90A5459C0}"/>
                </a:ext>
              </a:extLst>
            </p:cNvPr>
            <p:cNvSpPr/>
            <p:nvPr/>
          </p:nvSpPr>
          <p:spPr>
            <a:xfrm>
              <a:off x="0" y="0"/>
              <a:ext cx="2182929" cy="76148"/>
            </a:xfrm>
            <a:custGeom>
              <a:avLst/>
              <a:gdLst/>
              <a:ahLst/>
              <a:cxnLst/>
              <a:rect l="l" t="t" r="r" b="b"/>
              <a:pathLst>
                <a:path w="2182929" h="76148">
                  <a:moveTo>
                    <a:pt x="0" y="0"/>
                  </a:moveTo>
                  <a:lnTo>
                    <a:pt x="2182929" y="0"/>
                  </a:lnTo>
                  <a:lnTo>
                    <a:pt x="2182929" y="76148"/>
                  </a:lnTo>
                  <a:lnTo>
                    <a:pt x="0" y="76148"/>
                  </a:lnTo>
                  <a:close/>
                </a:path>
              </a:pathLst>
            </a:custGeom>
            <a:gradFill rotWithShape="1">
              <a:gsLst>
                <a:gs pos="0">
                  <a:srgbClr val="5DE0E6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pt-BR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A0F664D8-B77D-C91A-FC94-52A0815193CB}"/>
                </a:ext>
              </a:extLst>
            </p:cNvPr>
            <p:cNvSpPr txBox="1"/>
            <p:nvPr/>
          </p:nvSpPr>
          <p:spPr>
            <a:xfrm>
              <a:off x="0" y="47625"/>
              <a:ext cx="2182929" cy="285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00"/>
                </a:lnSpc>
              </a:pPr>
              <a:endParaRPr/>
            </a:p>
          </p:txBody>
        </p: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A25975CE-4D9E-A9A0-9328-D2D0CD0C3020}"/>
              </a:ext>
            </a:extLst>
          </p:cNvPr>
          <p:cNvGrpSpPr/>
          <p:nvPr/>
        </p:nvGrpSpPr>
        <p:grpSpPr>
          <a:xfrm>
            <a:off x="14069215" y="6266227"/>
            <a:ext cx="5449973" cy="544997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B4CE0B0D-F8C5-F161-6B92-6A62A74FA7B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28575" cap="sq">
              <a:solidFill>
                <a:srgbClr val="003CFF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57780121-37E9-B7FA-4F82-16133517CA86}"/>
                </a:ext>
              </a:extLst>
            </p:cNvPr>
            <p:cNvSpPr txBox="1"/>
            <p:nvPr/>
          </p:nvSpPr>
          <p:spPr>
            <a:xfrm>
              <a:off x="76200" y="123825"/>
              <a:ext cx="660400" cy="612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00"/>
                </a:lnSpc>
              </a:pPr>
              <a:endParaRPr/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8B662B24-B7C1-64E0-CABD-B6BC1265AE2F}"/>
              </a:ext>
            </a:extLst>
          </p:cNvPr>
          <p:cNvGrpSpPr/>
          <p:nvPr/>
        </p:nvGrpSpPr>
        <p:grpSpPr>
          <a:xfrm>
            <a:off x="-914400" y="-2282493"/>
            <a:ext cx="3807309" cy="3807309"/>
            <a:chOff x="0" y="0"/>
            <a:chExt cx="812800" cy="812800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8A901C8-0EE3-9939-BA83-F42D6FD19C8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3CFF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9D69BAB2-05C5-CEF6-A729-617030654F36}"/>
                </a:ext>
              </a:extLst>
            </p:cNvPr>
            <p:cNvSpPr txBox="1"/>
            <p:nvPr/>
          </p:nvSpPr>
          <p:spPr>
            <a:xfrm>
              <a:off x="76200" y="123825"/>
              <a:ext cx="660400" cy="612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00"/>
                </a:lnSpc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1740388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BFB979-200D-9221-38F9-86D6091D4D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640755D2-8F3E-FF83-5773-A532F3F33EE5}"/>
              </a:ext>
            </a:extLst>
          </p:cNvPr>
          <p:cNvSpPr txBox="1"/>
          <p:nvPr/>
        </p:nvSpPr>
        <p:spPr>
          <a:xfrm>
            <a:off x="4419600" y="2171700"/>
            <a:ext cx="11887200" cy="6924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5375"/>
              </a:lnSpc>
            </a:pPr>
            <a:r>
              <a:rPr lang="en-US" sz="4886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Principais</a:t>
            </a:r>
            <a:r>
              <a:rPr lang="en-US" sz="4886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4886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Riscos</a:t>
            </a:r>
            <a:r>
              <a:rPr lang="en-US" sz="4886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/ Pontos de </a:t>
            </a:r>
            <a:r>
              <a:rPr lang="en-US" sz="4886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Atenção</a:t>
            </a:r>
            <a:r>
              <a:rPr lang="en-US" sz="4886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B73B701F-A620-9BE1-5A22-F36718D6D0DA}"/>
              </a:ext>
            </a:extLst>
          </p:cNvPr>
          <p:cNvGrpSpPr/>
          <p:nvPr/>
        </p:nvGrpSpPr>
        <p:grpSpPr>
          <a:xfrm>
            <a:off x="-2693692" y="6278724"/>
            <a:ext cx="4586166" cy="4586166"/>
            <a:chOff x="0" y="0"/>
            <a:chExt cx="812800" cy="81280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763014D0-B554-D473-BB0B-FFB1D1CD42B4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5DE0E6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lin ang="0"/>
            </a:gradFill>
            <a:ln w="28575" cap="sq">
              <a:gradFill>
                <a:gsLst>
                  <a:gs pos="0">
                    <a:srgbClr val="5DE0E6">
                      <a:alpha val="100000"/>
                    </a:srgbClr>
                  </a:gs>
                  <a:gs pos="100000">
                    <a:srgbClr val="004AAD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1F4049C4-44AC-AF2E-F10C-B0690A345EC3}"/>
                </a:ext>
              </a:extLst>
            </p:cNvPr>
            <p:cNvSpPr txBox="1"/>
            <p:nvPr/>
          </p:nvSpPr>
          <p:spPr>
            <a:xfrm>
              <a:off x="76200" y="123825"/>
              <a:ext cx="660400" cy="612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00"/>
                </a:lnSpc>
              </a:pPr>
              <a:endParaRPr/>
            </a:p>
          </p:txBody>
        </p:sp>
      </p:grpSp>
      <p:sp>
        <p:nvSpPr>
          <p:cNvPr id="10" name="Freeform 10">
            <a:extLst>
              <a:ext uri="{FF2B5EF4-FFF2-40B4-BE49-F238E27FC236}">
                <a16:creationId xmlns:a16="http://schemas.microsoft.com/office/drawing/2014/main" id="{0CA1CBB9-E24E-6E38-B491-956E4103E93B}"/>
              </a:ext>
            </a:extLst>
          </p:cNvPr>
          <p:cNvSpPr/>
          <p:nvPr/>
        </p:nvSpPr>
        <p:spPr>
          <a:xfrm>
            <a:off x="-134896" y="1638191"/>
            <a:ext cx="4232192" cy="4291196"/>
          </a:xfrm>
          <a:custGeom>
            <a:avLst/>
            <a:gdLst/>
            <a:ahLst/>
            <a:cxnLst/>
            <a:rect l="l" t="t" r="r" b="b"/>
            <a:pathLst>
              <a:path w="4232192" h="4291196">
                <a:moveTo>
                  <a:pt x="0" y="0"/>
                </a:moveTo>
                <a:lnTo>
                  <a:pt x="4232192" y="0"/>
                </a:lnTo>
                <a:lnTo>
                  <a:pt x="4232192" y="4291196"/>
                </a:lnTo>
                <a:lnTo>
                  <a:pt x="0" y="42911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11" name="Group 4">
            <a:extLst>
              <a:ext uri="{FF2B5EF4-FFF2-40B4-BE49-F238E27FC236}">
                <a16:creationId xmlns:a16="http://schemas.microsoft.com/office/drawing/2014/main" id="{E0608B5E-C4A9-B80B-112A-C7F788F0F416}"/>
              </a:ext>
            </a:extLst>
          </p:cNvPr>
          <p:cNvGrpSpPr/>
          <p:nvPr/>
        </p:nvGrpSpPr>
        <p:grpSpPr>
          <a:xfrm>
            <a:off x="3314700" y="-467199"/>
            <a:ext cx="2209800" cy="2270381"/>
            <a:chOff x="0" y="0"/>
            <a:chExt cx="812800" cy="812800"/>
          </a:xfrm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63B073BD-69C5-E595-E4F5-691CE8EFD8A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5DE0E6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lin ang="0"/>
            </a:gradFill>
            <a:ln w="28575" cap="sq">
              <a:gradFill>
                <a:gsLst>
                  <a:gs pos="0">
                    <a:srgbClr val="5DE0E6">
                      <a:alpha val="100000"/>
                    </a:srgbClr>
                  </a:gs>
                  <a:gs pos="100000">
                    <a:srgbClr val="004AAD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3" name="TextBox 6">
              <a:extLst>
                <a:ext uri="{FF2B5EF4-FFF2-40B4-BE49-F238E27FC236}">
                  <a16:creationId xmlns:a16="http://schemas.microsoft.com/office/drawing/2014/main" id="{DDC8374D-6712-7D4A-782A-A4EFB6C20CB0}"/>
                </a:ext>
              </a:extLst>
            </p:cNvPr>
            <p:cNvSpPr txBox="1"/>
            <p:nvPr/>
          </p:nvSpPr>
          <p:spPr>
            <a:xfrm>
              <a:off x="76200" y="123825"/>
              <a:ext cx="660400" cy="612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00"/>
                </a:lnSpc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9975457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106399" y="1546888"/>
            <a:ext cx="4930175" cy="6328251"/>
          </a:xfrm>
          <a:custGeom>
            <a:avLst/>
            <a:gdLst/>
            <a:ahLst/>
            <a:cxnLst/>
            <a:rect l="l" t="t" r="r" b="b"/>
            <a:pathLst>
              <a:path w="5373746" h="7252801">
                <a:moveTo>
                  <a:pt x="0" y="0"/>
                </a:moveTo>
                <a:lnTo>
                  <a:pt x="5373746" y="0"/>
                </a:lnTo>
                <a:lnTo>
                  <a:pt x="5373746" y="7252800"/>
                </a:lnTo>
                <a:lnTo>
                  <a:pt x="0" y="72528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3" name="Group 3"/>
          <p:cNvGrpSpPr/>
          <p:nvPr/>
        </p:nvGrpSpPr>
        <p:grpSpPr>
          <a:xfrm>
            <a:off x="14037606" y="7488071"/>
            <a:ext cx="6605978" cy="6605978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28575" cap="sq">
              <a:solidFill>
                <a:srgbClr val="003CFF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6200" y="123825"/>
              <a:ext cx="660400" cy="612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0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858211" y="854391"/>
            <a:ext cx="9592466" cy="6924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375"/>
              </a:lnSpc>
            </a:pPr>
            <a:r>
              <a:rPr lang="en-US" sz="4886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Interface com </a:t>
            </a:r>
            <a:r>
              <a:rPr lang="en-US" sz="4886" dirty="0" err="1">
                <a:solidFill>
                  <a:srgbClr val="003CFF"/>
                </a:solidFill>
                <a:latin typeface="Montserrat"/>
                <a:ea typeface="Montserrat"/>
                <a:cs typeface="Montserrat"/>
                <a:sym typeface="Montserrat"/>
              </a:rPr>
              <a:t>outras</a:t>
            </a:r>
            <a:r>
              <a:rPr lang="en-US" sz="4886" dirty="0">
                <a:solidFill>
                  <a:srgbClr val="003C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4886" dirty="0" err="1">
                <a:solidFill>
                  <a:srgbClr val="003CFF"/>
                </a:solidFill>
                <a:latin typeface="Montserrat"/>
                <a:ea typeface="Montserrat"/>
                <a:cs typeface="Montserrat"/>
                <a:sym typeface="Montserrat"/>
              </a:rPr>
              <a:t>áreas</a:t>
            </a:r>
            <a:endParaRPr lang="en-US" sz="4886" dirty="0">
              <a:solidFill>
                <a:srgbClr val="003C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1043</TotalTime>
  <Words>39</Words>
  <Application>Microsoft Office PowerPoint</Application>
  <PresentationFormat>Personalizar</PresentationFormat>
  <Paragraphs>13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2" baseType="lpstr">
      <vt:lpstr>Aptos</vt:lpstr>
      <vt:lpstr>Calibri</vt:lpstr>
      <vt:lpstr>Arial</vt:lpstr>
      <vt:lpstr>Montserrat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Cópia de PLANEJAMENTO 2026 - M8 MARKETING</dc:title>
  <dc:creator>Sabrina Souza</dc:creator>
  <cp:lastModifiedBy>Sabrina Souza -  M8 Partners</cp:lastModifiedBy>
  <cp:revision>8</cp:revision>
  <dcterms:created xsi:type="dcterms:W3CDTF">2006-08-16T00:00:00Z</dcterms:created>
  <dcterms:modified xsi:type="dcterms:W3CDTF">2026-04-09T18:01:14Z</dcterms:modified>
  <dc:identifier>DAHEIzgoFXQ</dc:identifier>
</cp:coreProperties>
</file>